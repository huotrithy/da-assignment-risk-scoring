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91F-44FA-BF73-7426B872750D}"/>
              </c:ext>
            </c:extLst>
          </c:dPt>
          <c:dPt>
            <c:idx val="1"/>
            <c:invertIfNegative val="0"/>
            <c:bubble3D val="0"/>
            <c:spPr>
              <a:solidFill>
                <a:srgbClr val="7CB3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91F-44FA-BF73-7426B872750D}"/>
              </c:ext>
            </c:extLst>
          </c:dPt>
          <c:dPt>
            <c:idx val="2"/>
            <c:invertIfNegative val="0"/>
            <c:bubble3D val="0"/>
            <c:spPr>
              <a:solidFill>
                <a:srgbClr val="F9A8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91F-44FA-BF73-7426B872750D}"/>
              </c:ext>
            </c:extLst>
          </c:dPt>
          <c:dPt>
            <c:idx val="3"/>
            <c:invertIfNegative val="0"/>
            <c:bubble3D val="0"/>
            <c:spPr>
              <a:solidFill>
                <a:srgbClr val="EF6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91F-44FA-BF73-7426B872750D}"/>
              </c:ext>
            </c:extLst>
          </c:dPt>
          <c:dPt>
            <c:idx val="4"/>
            <c:invertIfNegative val="0"/>
            <c:bubble3D val="0"/>
            <c:spPr>
              <a:solidFill>
                <a:srgbClr val="C6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91F-44FA-BF73-7426B872750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59595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Grade A</c:v>
                </c:pt>
                <c:pt idx="1">
                  <c:v>Grade B</c:v>
                </c:pt>
                <c:pt idx="2">
                  <c:v>Grade C</c:v>
                </c:pt>
                <c:pt idx="3">
                  <c:v>Grade D</c:v>
                </c:pt>
                <c:pt idx="4">
                  <c:v>Grade 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200</c:v>
                </c:pt>
                <c:pt idx="2">
                  <c:v>413</c:v>
                </c:pt>
                <c:pt idx="3">
                  <c:v>151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91F-44FA-BF73-7426B87275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9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633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 covered the business model and requirements. Stage 2 shows how we built it: the data workflow, the database, the scoring logic, and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 from stage 1. The key point: the score must use internal data only and must be explainable — every criteria and weight is traceable.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2 walk-through, in the order the data 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left to right. Steps 3–5 are SQL script files in the scripts/ folder, run in order 01 to 07. Scripts 01–05 each compute one criteria, so each one's logic can be reviewed on its own; 06 combines them and saves the result; 07 checks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table traces back to customer. The scorecard reads the raw tables and writes its result into calculated_risk_score.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is synthetic but grounded in a real dataset where one exists. We also use the same real dataset later as evidence that our metrics relate to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5 rows of bootstrap/german_credit.data, decoded with the UCI code list. Point out: each row is one loan, the only outcome is good/bad (no score), and there are no transactions or balances over time — that is why the rest of our data is generated.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bridge from business question to score. Each of the 12 metrics is a question a loan officer would ask; the SQL answers it the same way for every customer and turns the answer into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structure as FICO-style scorecards. Every metric becomes points from 0 to 100, so different units (money, counts, ratios) can be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300–850 range is only the display scale; the ranking of customers comes from the 0–100 composite. The grade cut-offs are a policy choice by the bank, not a calculation — a bank with more appetite for risk would set them lower.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were set by judgment, based on what usually matters most in retail scorecards. A real bank would fit them statistically on historical defaults.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metric ends up as 100, 70, 40 or 10 points. The only question is how we decide which band a customer lands in. Payment uses fixed limits; everything else is ranked against the other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240 customers who already have a loan with us have payment history. For the other 560 the 35% is shared across the other criteria. Fixed limits, because repayment means the same in any population.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Ability to repay. Income is the latest declared amount for each income type, added up. Debt-to-income uses the customer's latest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customer manages money day to day. Especially useful for first-time borrowers, who have no payment history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stability signal. Low weight because it says less about ability to repay than income or payment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the lowest weight, so non-behavioural factors like age can only nudge the score, not decide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Real row from calculated_risk_score. Metric points come from scripts 01–05 for customer 3, a repeat borrower with 11 installments, all on time. Walk through one row, e.g. Income: 70 + 100 + 10, divided by 3, is 60; times 0.25 is 15. DTI is only 10 points because his requested loan is large compared with his income.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Customer 1 has never applied for a loan, so Payment Behaviour is empty and its 35% is redistributed: each other weight divided by 0.65. Debt-to-income and amount-vs-range get the neutral 55 because there is no application on file. Contributions are rounded; the exact composite is 62.56.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Shape is a realistic skew: most customers in the middle (C), a small top tier (A), and a tail of D, with a single E. Under the approval policy, 648 customers (81%) would qualify (grade A–C).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criteria points per grade. Read across a row to compare grades. Payment Behaviour is averaged only over repeat borrowers in each 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Click the button (works in slideshow mode) to open the live app at https://da-assignment.iamrithy.com. Show the overview first, then Customer drill-down: click the B example (customer 3) and walk through how the score was built and the data behind it. It matches worked example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PII and CFI apply — no telecom (CPNI) or health (PHI) data in this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the model logic is sound and traceable, but the weights and data are not validated against real defaults.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a-assignment.iamrithy.com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1 — ASSIGNMENT, STAGE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Credit Risk Scoring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Workflow, database &amp; scoring 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1097280" cy="54864"/>
          </a:xfrm>
          <a:prstGeom prst="rect">
            <a:avLst/>
          </a:prstGeom>
          <a:solidFill>
            <a:srgbClr val="A9C1E8"/>
          </a:solidFill>
          <a:ln w="12700">
            <a:solidFill>
              <a:srgbClr val="A9C1E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goal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03520" cy="310896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554480"/>
            <a:ext cx="64008" cy="3108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10312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that default cost the bank money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by loan officers is slow and inconsistent — two officers can decide differently on the same customer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9360" y="1554480"/>
            <a:ext cx="5303520" cy="310896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0" y="1554480"/>
            <a:ext cx="64008" cy="3108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537960" y="210312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customer consistently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of 300–850 and a risk grade A–E</a:t>
            </a:r>
            <a:endParaRPr lang="en-US" sz="14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internal data only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transactions, income, repayment history — no credit bureau</a:t>
            </a:r>
            <a:endParaRPr lang="en-US" sz="14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in two ways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Reactive: when a loan application arrives · Proactive: a batch scan of existing customers to make loan offers</a:t>
            </a:r>
            <a:endParaRPr lang="en-US" sz="14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explainable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criteria and weight is visible, not a black box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0160" y="14904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754880" y="149047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 stored score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167128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80160" y="2148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754880" y="21488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tables in PostgreSQL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2825496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2825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80160" y="28072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questions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754880" y="280720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metrics, each answering one business question — with real-data evidence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3483864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80160" y="346557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754880" y="346557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Weights, points, score range &amp; grades, worked examples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4142232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280160" y="412394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754880" y="412394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distribution for 800 customers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8640" y="4800600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280160" y="47823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4754880" y="478231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 of the results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48640" y="5458968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" y="5458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280160" y="5440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limitations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4754880" y="5440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 out for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680972" cy="2377440"/>
          </a:xfrm>
          <a:prstGeom prst="rect">
            <a:avLst/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847088"/>
            <a:ext cx="1680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1792" y="2148840"/>
            <a:ext cx="1534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data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8368" y="2651760"/>
            <a:ext cx="14615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UCI German Credit loans + Faker → consistent data for 800 customers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21792" y="3703320"/>
            <a:ext cx="1534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generate_data.js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47900" y="2926080"/>
            <a:ext cx="16459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430780" y="1737360"/>
            <a:ext cx="1680972" cy="2377440"/>
          </a:xfrm>
          <a:prstGeom prst="rect">
            <a:avLst/>
          </a:prstGeom>
          <a:solidFill>
            <a:srgbClr val="B4C7E7"/>
          </a:solidFill>
          <a:ln w="12700">
            <a:solidFill>
              <a:srgbClr val="B4C7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30780" y="1847088"/>
            <a:ext cx="1680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503932" y="2148840"/>
            <a:ext cx="1534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database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40508" y="2651760"/>
            <a:ext cx="14615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13 tables linked by customer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503932" y="3703320"/>
            <a:ext cx="1534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01_schema.sql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130040" y="2926080"/>
            <a:ext cx="16459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312920" y="1737360"/>
            <a:ext cx="1680972" cy="2377440"/>
          </a:xfrm>
          <a:prstGeom prst="rect">
            <a:avLst/>
          </a:prstGeom>
          <a:solidFill>
            <a:srgbClr val="8FAADC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12920" y="1847088"/>
            <a:ext cx="1680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386072" y="2148840"/>
            <a:ext cx="1534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metrics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422648" y="2651760"/>
            <a:ext cx="14615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script per criteria: raw data → metric points for every customer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386072" y="3703320"/>
            <a:ext cx="1534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 01–05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012180" y="2926080"/>
            <a:ext cx="16459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195060" y="1737360"/>
            <a:ext cx="1680972" cy="2377440"/>
          </a:xfrm>
          <a:prstGeom prst="rect">
            <a:avLst/>
          </a:prstGeom>
          <a:solidFill>
            <a:srgbClr val="8FAADC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95060" y="1847088"/>
            <a:ext cx="1680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268212" y="2148840"/>
            <a:ext cx="1534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score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304788" y="2651760"/>
            <a:ext cx="14615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the 5 criteria → score 300–850 → grade A–E, saved per customer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268212" y="3703320"/>
            <a:ext cx="1534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 06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894320" y="2926080"/>
            <a:ext cx="16459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8077200" y="1737360"/>
            <a:ext cx="1680972" cy="2377440"/>
          </a:xfrm>
          <a:prstGeom prst="rect">
            <a:avLst/>
          </a:prstGeom>
          <a:solidFill>
            <a:srgbClr val="8FAADC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77200" y="1847088"/>
            <a:ext cx="1680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150352" y="2148840"/>
            <a:ext cx="1534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600" b="1" dirty="0" smtClean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esults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186928" y="2651760"/>
            <a:ext cx="14615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distribution and a 20-customer spot check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8150352" y="3703320"/>
            <a:ext cx="1534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 07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9776460" y="2926080"/>
            <a:ext cx="16459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9959340" y="1737360"/>
            <a:ext cx="1680972" cy="2377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959340" y="1847088"/>
            <a:ext cx="1680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0032492" y="2148840"/>
            <a:ext cx="1534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0069068" y="2651760"/>
            <a:ext cx="14615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report on the results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548640" y="4389120"/>
            <a:ext cx="3563112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" y="4480560"/>
            <a:ext cx="356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database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4312920" y="4389120"/>
            <a:ext cx="5445252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312920" y="4480560"/>
            <a:ext cx="5445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(SQL)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9959340" y="4389120"/>
            <a:ext cx="1680972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959340" y="4480560"/>
            <a:ext cx="16809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548640" y="5349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scoring is split into numbered SQL scripts (01–07), run in order, so each step can be checked on its own. Every script is safe to re-run.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DATABASE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13 tables in 4 groups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82880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103120"/>
            <a:ext cx="1828800" cy="429768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210312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606040"/>
            <a:ext cx="1828800" cy="429768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260604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income_source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14600" y="1554480"/>
            <a:ext cx="182880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1460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behaviour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514600" y="2103120"/>
            <a:ext cx="1828800" cy="429768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0320" y="210312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514600" y="2606040"/>
            <a:ext cx="1828800" cy="429768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60320" y="260604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514600" y="3108960"/>
            <a:ext cx="1828800" cy="429768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0" y="310896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account_balance_history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480560" y="1554480"/>
            <a:ext cx="182880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8056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lifecycle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480560" y="2103120"/>
            <a:ext cx="1828800" cy="429768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210312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loan_product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480560" y="2606040"/>
            <a:ext cx="1828800" cy="429768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260604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loan_offer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480560" y="3108960"/>
            <a:ext cx="1828800" cy="429768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310896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loan_application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480560" y="3611880"/>
            <a:ext cx="1828800" cy="429768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361188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loan_account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480560" y="4114800"/>
            <a:ext cx="1828800" cy="429768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411480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payment_history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480560" y="4617720"/>
            <a:ext cx="1828800" cy="429768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461772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delinquency_event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446520" y="1554480"/>
            <a:ext cx="182880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4652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446520" y="2103120"/>
            <a:ext cx="1828800" cy="429768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92240" y="210312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calculated_risk_score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64108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641080" y="2103120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 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2000" dirty="0"/>
          </a:p>
        </p:txBody>
      </p:sp>
      <p:sp>
        <p:nvSpPr>
          <p:cNvPr id="42" name="Text 39"/>
          <p:cNvSpPr/>
          <p:nvPr/>
        </p:nvSpPr>
        <p:spPr>
          <a:xfrm>
            <a:off x="8641080" y="2606040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smtClean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1,072  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8641080" y="3108960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smtClean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59,943  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2000" dirty="0"/>
          </a:p>
        </p:txBody>
      </p:sp>
      <p:sp>
        <p:nvSpPr>
          <p:cNvPr id="44" name="Text 41"/>
          <p:cNvSpPr/>
          <p:nvPr/>
        </p:nvSpPr>
        <p:spPr>
          <a:xfrm>
            <a:off x="8641080" y="3611880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smtClean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 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applications</a:t>
            </a:r>
            <a:endParaRPr lang="en-US" sz="2000" dirty="0"/>
          </a:p>
        </p:txBody>
      </p:sp>
      <p:sp>
        <p:nvSpPr>
          <p:cNvPr id="45" name="Text 42"/>
          <p:cNvSpPr/>
          <p:nvPr/>
        </p:nvSpPr>
        <p:spPr>
          <a:xfrm>
            <a:off x="8641080" y="4114800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smtClean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  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accounts</a:t>
            </a:r>
            <a:endParaRPr lang="en-US" sz="2000" dirty="0"/>
          </a:p>
        </p:txBody>
      </p:sp>
      <p:sp>
        <p:nvSpPr>
          <p:cNvPr id="46" name="Text 43"/>
          <p:cNvSpPr/>
          <p:nvPr/>
        </p:nvSpPr>
        <p:spPr>
          <a:xfrm>
            <a:off x="8641080" y="4617720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smtClean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1,197  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payments</a:t>
            </a:r>
            <a:endParaRPr lang="en-US" sz="2000" dirty="0"/>
          </a:p>
        </p:txBody>
      </p:sp>
      <p:sp>
        <p:nvSpPr>
          <p:cNvPr id="47" name="Text 44"/>
          <p:cNvSpPr/>
          <p:nvPr/>
        </p:nvSpPr>
        <p:spPr>
          <a:xfrm>
            <a:off x="548640" y="525780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links back to customer, so one customer's income, accounts, transactions and loans can be joined into one picture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calculated_risk_score holds the output of our SQL scorecard: one row per customer with each criteria's points, the score and the grade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DATABASE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comes from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03520" cy="237744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554480"/>
            <a:ext cx="64008" cy="2377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data: UCI German Credit (1,000 loans)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1031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buSzPct val="100000"/>
            </a:pPr>
            <a:r>
              <a:rPr lang="en-US" sz="1100" dirty="0" smtClean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dataset </a:t>
            </a: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UCI Machine Learning Repository used to train and test classification models for credit risk </a:t>
            </a:r>
            <a:r>
              <a:rPr lang="en-US" sz="1100" dirty="0" smtClean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</a:p>
          <a:p>
            <a:pPr>
              <a:spcAft>
                <a:spcPts val="200"/>
              </a:spcAft>
              <a:buSzPct val="100000"/>
            </a:pPr>
            <a:endParaRPr lang="en-US" sz="1100" dirty="0" smtClean="0">
              <a:solidFill>
                <a:srgbClr val="59595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400" dirty="0" smtClean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ake 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mock data realistic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ages, loan amounts and loan terms; the real good / bad outcome decides which mock loans are approved and which fall behind on </a:t>
            </a:r>
            <a:r>
              <a:rPr lang="en-US" sz="1100" dirty="0" smtClean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</a:p>
        </p:txBody>
      </p:sp>
      <p:sp>
        <p:nvSpPr>
          <p:cNvPr id="10" name="Shape 7"/>
          <p:cNvSpPr/>
          <p:nvPr/>
        </p:nvSpPr>
        <p:spPr>
          <a:xfrm>
            <a:off x="6309360" y="1554480"/>
            <a:ext cx="5303520" cy="237744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0" y="1554480"/>
            <a:ext cx="64008" cy="2377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(</a:t>
            </a:r>
            <a:r>
              <a:rPr lang="en-US" sz="1700" b="1" dirty="0" smtClean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Faker)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537960" y="21031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dates, transaction amounts &amp; categories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trends and account </a:t>
            </a:r>
            <a:r>
              <a:rPr lang="en-US" sz="1400" dirty="0" smtClean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DATABASE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real data looks like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FILE — one line per applicant, mostly codes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91672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916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A11 6 A34 A43 1169 A65 A75 4 A93 A101 4 A121 67 A143 A152 2 A173 1 A192 A201 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377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 — 5 real applicants, only the columns we use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91672" cy="230428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Checking balance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amount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Installment burden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 in job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 DM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1,169 DM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(high)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0–200 DM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5,951 DM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account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2,096 DM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 DM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7,882 DM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 DM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4,870 DM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51663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real loans, 20 attributes each, outcome = good or bad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score in the data — only whether the loan was repaid</a:t>
            </a:r>
            <a:endParaRPr lang="en-US" sz="15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transactions, balances over time or payment history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our accounts, transactions and payments are generated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ANALYTICAL QUESTIONS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answers one analytical question related to risk score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601143"/>
              </p:ext>
            </p:extLst>
          </p:nvPr>
        </p:nvGraphicFramePr>
        <p:xfrm>
          <a:off x="548640" y="1417320"/>
          <a:ext cx="11091672" cy="465226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Analytical question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goes up with…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Behaviour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on-time payments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customer pay their installments on time?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more on-time payments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delinquency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the customer ever fallen seriously behind?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no or only mild delinquency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&amp; Capacity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income level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customer earn enough to repay?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higher income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diversification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income continue if one source stopped?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2+ income sources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Debt-to-income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loan reasonable for this income?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smaller loan vs income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Behaviour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volume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account activity normal, or dormant / erratic?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activity close to typical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Spend-to-income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customer spend more than they earn?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lower spending vs income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trend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customer's balance growing or shrinking?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rising balance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Relationship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tenure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has the customer banked with us?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longer relationship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the customer's accounts still in use?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all accounts active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 &amp; Loan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customer in the lowest-default age range?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</a:t>
                      </a:r>
                      <a:r>
                        <a:rPr lang="en-US" sz="1250" dirty="0" smtClean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around</a:t>
                      </a:r>
                      <a:r>
                        <a:rPr lang="en-US" sz="1250" baseline="0" dirty="0" smtClean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middle </a:t>
                      </a:r>
                      <a:r>
                        <a:rPr lang="en-US" sz="1250" dirty="0" smtClean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vs product 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customer asking for the top of what the product allows?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smaller share of the 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SCORING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score is built: a weighted scorecard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057400" cy="2103120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874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" y="2377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→ points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28346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metric is put into </a:t>
            </a:r>
            <a:r>
              <a:rPr lang="en-US" sz="13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300" smtClean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gets 0–100 points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624328" y="2788920"/>
            <a:ext cx="155448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798064" y="1737360"/>
            <a:ext cx="2057400" cy="2103120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98064" y="1874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889504" y="2377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 criteria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935224" y="28346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points = average of its metric points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873752" y="2788920"/>
            <a:ext cx="155448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047488" y="1737360"/>
            <a:ext cx="2057400" cy="2103120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47488" y="1874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138928" y="2377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84648" y="28346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(0–100) = Σ weight × criteria points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123176" y="2788920"/>
            <a:ext cx="155448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296912" y="1737360"/>
            <a:ext cx="2057400" cy="2103120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96912" y="1874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7388352" y="2377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434072" y="28346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300 + composite × 5.5  (range 300–850)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372600" y="2788920"/>
            <a:ext cx="155448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546336" y="1737360"/>
            <a:ext cx="2057400" cy="2103120"/>
          </a:xfrm>
          <a:prstGeom prst="rect">
            <a:avLst/>
          </a:prstGeom>
          <a:solidFill>
            <a:srgbClr val="EEF2F9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546336" y="1874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9637776" y="2377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683496" y="28346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→ grade A–E → approve / reject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48640" y="4206240"/>
            <a:ext cx="11091672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2960" y="429768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Composite = 0.35×Payment + 0.25×Income + 0.20×Transaction + 0.10×Account + 0.10×Demographics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    = ROUND(300 + Composite × 5.5)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5.5? It maps the 0–100 composite onto the 300–850 score range: (850 − 300) ÷ 100 = 5.5.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SCORING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Grade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4846320" cy="25146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463040"/>
            <a:ext cx="64008" cy="2514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600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</a:t>
            </a:r>
            <a:r>
              <a:rPr lang="en-US" sz="1700" b="1" dirty="0" smtClean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between 300–850</a:t>
            </a: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011680"/>
            <a:ext cx="4480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range as FICO, the best-known credit score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has seen a credit score can read ours</a:t>
            </a:r>
            <a:endParaRPr lang="en-US" sz="14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 smtClean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doesn't change who ranks higher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makes the result easier to read and compare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463040"/>
          <a:ext cx="5971032" cy="449884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750–850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B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680–749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600–679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6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500–599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300–499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4160520"/>
            <a:ext cx="4846320" cy="18288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5" name="Shape 8"/>
          <p:cNvSpPr/>
          <p:nvPr/>
        </p:nvSpPr>
        <p:spPr>
          <a:xfrm>
            <a:off x="548640" y="4160520"/>
            <a:ext cx="64008" cy="1828800"/>
          </a:xfrm>
          <a:prstGeom prst="rect">
            <a:avLst/>
          </a:prstGeom>
          <a:solidFill>
            <a:srgbClr val="C88A00"/>
          </a:solidFill>
          <a:ln w="12700">
            <a:solidFill>
              <a:srgbClr val="C88A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4297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grade cut-offs come from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77240" y="47091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policy choice (risk appetite), not a calculation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set them close to FICO's bands: Good 670+, Fair 580–669, Poor below 580</a:t>
            </a:r>
            <a:endParaRPr lang="en-US" sz="14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from 600 (grade C and above)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bank might send grade C to manual review instead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SCORING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criteria and their weights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645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Behaviour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566160" y="1709928"/>
            <a:ext cx="384048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321040" y="1645920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repayment is the strongest predictor (repeat borrowers only)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304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&amp; Capacity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566160" y="2368296"/>
            <a:ext cx="2743200" cy="32918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230428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321040" y="2304288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measure of ability to repay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29626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Behaviour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566160" y="3026664"/>
            <a:ext cx="2194560" cy="32918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6265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321040" y="2962656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Cash-flow discipline — useful for first-time borrowers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3621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Relationship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566160" y="3685032"/>
            <a:ext cx="1097280" cy="32918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362102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321040" y="3621024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and account status as a stability signal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48640" y="42793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&amp; Loan Context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3566160" y="4343400"/>
            <a:ext cx="1097280" cy="32918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4880" y="42793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321040" y="4279392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low on purpose — a light adjustment only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5029200"/>
            <a:ext cx="11091672" cy="1097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7240" y="5074920"/>
            <a:ext cx="10634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applicants </a:t>
            </a: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loan yet, so no payment history — 560 of 800 customers): the 35% is shared out proportionally, each other weight ÷ 0.65 → </a:t>
            </a: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38.5% · Transaction 30.8% · Account 15.4% · Demographics 15.4%</a:t>
            </a: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They are not punished with zero points for missing history.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SCORING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metric turns into points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5394960" cy="333756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Fixed limits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the number means the same for everyone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423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400" b="1" dirty="0" smtClean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(%) </a:t>
            </a: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payments made on time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2834640"/>
            <a:ext cx="1152144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83464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</a:t>
            </a:r>
            <a:endParaRPr lang="en-US" sz="13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020824" y="2834640"/>
            <a:ext cx="1152144" cy="914400"/>
          </a:xfrm>
          <a:prstGeom prst="rect">
            <a:avLst/>
          </a:prstGeom>
          <a:solidFill>
            <a:srgbClr val="7CB3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20824" y="283464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85–94%</a:t>
            </a:r>
            <a:endParaRPr lang="en-US" sz="13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pts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64408" y="2834640"/>
            <a:ext cx="1152144" cy="914400"/>
          </a:xfrm>
          <a:prstGeom prst="rect">
            <a:avLst/>
          </a:prstGeom>
          <a:solidFill>
            <a:srgbClr val="F9A82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64408" y="283464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70–84%</a:t>
            </a:r>
            <a:endParaRPr lang="en-US" sz="13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pts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07992" y="2834640"/>
            <a:ext cx="1152144" cy="914400"/>
          </a:xfrm>
          <a:prstGeom prst="rect">
            <a:avLst/>
          </a:prstGeom>
          <a:solidFill>
            <a:srgbClr val="EF6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07992" y="283464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70%</a:t>
            </a:r>
            <a:endParaRPr lang="en-US" sz="13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77240" y="39319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95% on time is good in any bank, so the limit doesn't need the other customers.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45352" y="1463040"/>
            <a:ext cx="5394960" cy="333756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73952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Ranked against all customers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473952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there is no universal “good” value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73952" y="2423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monthly income — sort all 800 customers, cut into 4 groups of 200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73952" y="2834640"/>
            <a:ext cx="1152144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73952" y="283464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25%</a:t>
            </a:r>
            <a:endParaRPr lang="en-US" sz="13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pts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717536" y="2834640"/>
            <a:ext cx="1152144" cy="914400"/>
          </a:xfrm>
          <a:prstGeom prst="rect">
            <a:avLst/>
          </a:prstGeom>
          <a:solidFill>
            <a:srgbClr val="7CB3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17536" y="283464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25%</a:t>
            </a:r>
            <a:endParaRPr lang="en-US" sz="13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pts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961120" y="2834640"/>
            <a:ext cx="1152144" cy="914400"/>
          </a:xfrm>
          <a:prstGeom prst="rect">
            <a:avLst/>
          </a:prstGeom>
          <a:solidFill>
            <a:srgbClr val="F9A82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961120" y="283464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25%</a:t>
            </a:r>
            <a:endParaRPr lang="en-US" sz="13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pts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0204704" y="2834640"/>
            <a:ext cx="1152144" cy="914400"/>
          </a:xfrm>
          <a:prstGeom prst="rect">
            <a:avLst/>
          </a:prstGeom>
          <a:solidFill>
            <a:srgbClr val="EF6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204704" y="283464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25%</a:t>
            </a:r>
            <a:endParaRPr lang="en-US" sz="13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473952" y="39319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1,500 a month is “high” depends on the customer base, so we compare customers with each other. This also spreads customers across all grades.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48640" y="498348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(4 metrics): on-time %, worst delinquency, income diversification, account status · Ranked (8 metrics): all other ratios and trends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CASE WHEN for fixed limits, NTILE(4) for ranking</a:t>
            </a:r>
            <a:endParaRPr lang="en-US" sz="15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→ 55 points, the middle of 10 and 100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no loan application yet, so no debt-to-income — the customer is neither rewarded nor punished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SCORING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1 — Payment Behaviour (35%)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31536" cy="43434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417320"/>
            <a:ext cx="5431536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0020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on-time payments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1984248"/>
            <a:ext cx="5065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the customer pay their installments on time?”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6517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SIGNALS RISK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2898648"/>
            <a:ext cx="5065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repayment is the best guide to future repayment — people who paid on time usually keep doing so.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37947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4041648"/>
            <a:ext cx="5065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installments ÷ all installments, from payment_history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4892040"/>
            <a:ext cx="506577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892040"/>
            <a:ext cx="4882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≥ 95% → 100 · 85–94% → 70 · 70–84% → 40 · &lt; 70% → 10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08776" y="1417320"/>
            <a:ext cx="5431536" cy="43434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08776" y="1417320"/>
            <a:ext cx="5431536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91656" y="160020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delinquency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91656" y="1984248"/>
            <a:ext cx="5065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“Has the customer ever fallen seriously behind?”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91656" y="26517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SIGNALS RISK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391656" y="2898648"/>
            <a:ext cx="5065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90 days late or written off shows serious financial distress. How far behind matters more than one late day.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91656" y="37947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391656" y="4041648"/>
            <a:ext cx="5065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severe event in delinquency_event across the customer's loans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391656" y="4892040"/>
            <a:ext cx="506577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83096" y="4892040"/>
            <a:ext cx="4882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none → 100 · 30 days → 60 · 60 days → 30 · 90 days / write-off → 0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points = average of these 2 metrics · scripts/01_metric_payment_behavior.sql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SCORING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2 — Income &amp; Capacity (25%)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3544824" cy="43434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417320"/>
            <a:ext cx="3544824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00200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 level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1984248"/>
            <a:ext cx="3179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the customer earn enough to repay?”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651760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SIGNALS RISK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2898648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income leaves more room to pay installments after living costs.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3794760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4041648"/>
            <a:ext cx="3179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the latest monthly_income for each income type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4892040"/>
            <a:ext cx="317906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892040"/>
            <a:ext cx="299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Ranked: highest 25% → 100 · 70 · 40 · lowest 25% → 10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322064" y="1417320"/>
            <a:ext cx="3544824" cy="43434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22064" y="1417320"/>
            <a:ext cx="3544824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04944" y="1600200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diversification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504944" y="1984248"/>
            <a:ext cx="3179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“Would income continue if one source stopped?”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04944" y="2651760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SIGNALS RISK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04944" y="2898648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income (e.g. salary + rental) cushions the customer if one is lost.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04944" y="3794760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04944" y="4041648"/>
            <a:ext cx="3179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different income types the customer declares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04944" y="4892040"/>
            <a:ext cx="317906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96384" y="4892040"/>
            <a:ext cx="299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2 or more → 100 · 1 → 60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8095488" y="1417320"/>
            <a:ext cx="3544824" cy="43434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095488" y="1417320"/>
            <a:ext cx="3544824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78368" y="1600200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278368" y="1984248"/>
            <a:ext cx="3179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the loan reasonable for this income?”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278368" y="2651760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SIGNALS RISK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278368" y="2898648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the loan compared with income, the heavier each installment and the easier it is to fall behind.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278368" y="3794760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8278368" y="4041648"/>
            <a:ext cx="3179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requested amount ÷ total monthly income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8278368" y="4892040"/>
            <a:ext cx="317906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69808" y="4892040"/>
            <a:ext cx="299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Ranked: lowest ratio → 100 · 70 · 40 · highest → 10 · no application → 55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points = average of these 3 metrics · scripts/02_metric_income_capacity.sql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SCORING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3 — Transaction Behaviour (20%)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3544824" cy="43434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417320"/>
            <a:ext cx="3544824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00200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1984248"/>
            <a:ext cx="3179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account activity normal, or dormant / erratic?”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651760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SIGNALS RISK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2898648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 activity means we know little about the customer; very heavy, erratic activity can mean cash-flow stress.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3794760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4041648"/>
            <a:ext cx="3179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transactions per active month, compared with the median customer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4892040"/>
            <a:ext cx="317906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892040"/>
            <a:ext cx="299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Ranked: closest to median → 100 · 70 · 40 · furthest → 10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322064" y="1417320"/>
            <a:ext cx="3544824" cy="43434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22064" y="1417320"/>
            <a:ext cx="3544824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04944" y="1600200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Spend-to-income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504944" y="1984248"/>
            <a:ext cx="3179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the customer spend more than they earn?”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04944" y="2651760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SIGNALS RISK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04944" y="2898648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more than comes in drains savings and leaves nothing spare for loan repayments.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04944" y="3794760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04944" y="4041648"/>
            <a:ext cx="3179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spending ÷ total income transactions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04944" y="4892040"/>
            <a:ext cx="317906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96384" y="4892040"/>
            <a:ext cx="299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Ranked: lowest ratio → 100 · 70 · 40 · highest → 10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8095488" y="1417320"/>
            <a:ext cx="3544824" cy="43434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095488" y="1417320"/>
            <a:ext cx="3544824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78368" y="1600200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trend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278368" y="1984248"/>
            <a:ext cx="3179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the customer's balance growing or shrinking?”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278368" y="2651760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SIGNALS RISK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278368" y="2898648"/>
            <a:ext cx="3179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 balance builds a safety buffer; a shrinking one shows savings being used up.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278368" y="3794760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8278368" y="4041648"/>
            <a:ext cx="3179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of closing balance over 26 weekly snapshots (REGR_SLOPE)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8278368" y="4892040"/>
            <a:ext cx="317906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69808" y="4892040"/>
            <a:ext cx="299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Ranked: most rising → 100 · 70 · 40 · most falling → 10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points = average of these 3 metrics · scripts/03_metric_transaction_behavior.sql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SCORING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4 — Account Relationship (10%)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31536" cy="43434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417320"/>
            <a:ext cx="5431536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0020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tenure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1984248"/>
            <a:ext cx="5065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long has the customer banked with us?”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6517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SIGNALS RISK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2898648"/>
            <a:ext cx="5065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relationship gives the bank more history to judge, and long-standing customers tend to be more stable.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37947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4041648"/>
            <a:ext cx="5065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since the customer's first account was opened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4892040"/>
            <a:ext cx="506577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892040"/>
            <a:ext cx="4882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Ranked: longest 25% → 100 · 70 · 40 · newest 25% → 10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08776" y="1417320"/>
            <a:ext cx="5431536" cy="43434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08776" y="1417320"/>
            <a:ext cx="5431536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91656" y="160020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status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91656" y="1984248"/>
            <a:ext cx="5065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“Are the customer's accounts still in use?”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91656" y="26517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SIGNALS RISK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391656" y="2898648"/>
            <a:ext cx="5065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or closed accounts give less recent data and can mean the customer is drifting away or banking elsewhere.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91656" y="37947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391656" y="4041648"/>
            <a:ext cx="5065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accounts compared with all the customer's accounts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391656" y="4892040"/>
            <a:ext cx="506577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83096" y="4892040"/>
            <a:ext cx="4882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all active → 100 · some active → 40 · none active → 0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points = average of these 2 metrics · scripts/04_metric_account_relationship.sql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SCORING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5 — Demographics &amp; Loan Context (10%)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31536" cy="43434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417320"/>
            <a:ext cx="5431536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0020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1984248"/>
            <a:ext cx="5065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the customer in the lowest-default age range?”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6517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SIGNALS RISK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2898648"/>
            <a:ext cx="5065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young borrowers often have less stable income; in real loan data, defaults are lowest within about 10 years of age 42.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37947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4041648"/>
            <a:ext cx="5065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between the customer's age and 42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4892040"/>
            <a:ext cx="506577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892040"/>
            <a:ext cx="4882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Ranked: closest to 42 → 100 · 70 · 40 · furthest → 10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08776" y="1417320"/>
            <a:ext cx="5431536" cy="43434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08776" y="1417320"/>
            <a:ext cx="5431536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91656" y="160020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vs product range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91656" y="1984248"/>
            <a:ext cx="5065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the customer asking for the top of what the product allows?”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91656" y="26517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SIGNALS RISK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391656" y="2898648"/>
            <a:ext cx="5065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for the maximum means more money at risk and can mean the customer is stretching.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91656" y="37947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391656" y="4041648"/>
            <a:ext cx="5065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requested amount sits between the product's minimum and maximum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391656" y="4892040"/>
            <a:ext cx="506577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83096" y="4892040"/>
            <a:ext cx="4882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Ranked: lowest share → 100 · 70 · 40 · highest → 10 · no application → 55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points = average of these 2 metrics · scripts/05_metric_demographics.sql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SCORING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1 — repeat </a:t>
            </a:r>
            <a:r>
              <a:rPr lang="en-US" sz="28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</a:t>
            </a:r>
            <a:r>
              <a:rPr lang="en-US" sz="2800" b="1" smtClean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(customer 3)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174564"/>
              </p:ext>
            </p:extLst>
          </p:nvPr>
        </p:nvGraphicFramePr>
        <p:xfrm>
          <a:off x="548640" y="1508760"/>
          <a:ext cx="11091672" cy="3520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points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 points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Behaviour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 100 · Delinquency 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&amp; Capacity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level 70 · Diversification 100 · DTI 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Behaviour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70 · Spend ratio 40 · Balance trend 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Relationship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 100 · Status 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70 · Amount vs range 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smtClean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257800"/>
            <a:ext cx="11091672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22960" y="530352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600" smtClean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300 + 77.50 × 5.5 = 726.25 → 726</a:t>
            </a:r>
            <a:endParaRPr lang="en-US" sz="1600" dirty="0"/>
          </a:p>
          <a:p>
            <a:pPr marL="0" indent="0">
              <a:buNone/>
            </a:pPr>
            <a:r>
              <a:rPr lang="en-US" sz="1600" smtClean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726 is in 680–749 → grade B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988552" y="5349240"/>
            <a:ext cx="2468880" cy="86868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988552" y="53492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726 · Grade B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SCORING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2 — first-time </a:t>
            </a:r>
            <a:r>
              <a:rPr lang="en-US" sz="28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</a:t>
            </a:r>
            <a:r>
              <a:rPr lang="en-US" sz="2800" b="1" smtClean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(customer 1)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494911"/>
              </p:ext>
            </p:extLst>
          </p:nvPr>
        </p:nvGraphicFramePr>
        <p:xfrm>
          <a:off x="548640" y="1508760"/>
          <a:ext cx="11091672" cy="3545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points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 points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8C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Behaviour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8C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loan history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8C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8C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8C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&amp; Capacity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level 100 · Diversification 60 · DTI 55 (neutral)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Behaviour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10 · Spend ratio 100 · Balance trend 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Relationship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 100 · Status 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40 · Amount vs range 55 (neutral)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smtClean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smtClean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257800"/>
            <a:ext cx="11091672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22960" y="530352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600" smtClean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300 + 62.56 × 5.5 = 644.08 → 644</a:t>
            </a:r>
            <a:endParaRPr lang="en-US" sz="1600" dirty="0"/>
          </a:p>
          <a:p>
            <a:pPr marL="0" indent="0">
              <a:buNone/>
            </a:pPr>
            <a:r>
              <a:rPr lang="en-US" sz="1600" smtClean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644 is in 600–679 → grade C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988552" y="5349240"/>
            <a:ext cx="2468880" cy="868680"/>
          </a:xfrm>
          <a:prstGeom prst="rect">
            <a:avLst/>
          </a:prstGeom>
          <a:solidFill>
            <a:srgbClr val="C88A00"/>
          </a:solidFill>
          <a:ln w="12700">
            <a:solidFill>
              <a:srgbClr val="C88A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988552" y="53492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644 · Grade C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800 customers scored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314933342"/>
              </p:ext>
            </p:extLst>
          </p:nvPr>
        </p:nvGraphicFramePr>
        <p:xfrm>
          <a:off x="548640" y="1463040"/>
          <a:ext cx="67665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1554480"/>
            <a:ext cx="4142232" cy="77724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680960" y="15544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smtClean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651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372600" y="155448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</a:t>
            </a:r>
            <a:r>
              <a:rPr lang="en-US" sz="14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</a:t>
            </a:r>
            <a:r>
              <a:rPr lang="en-US" sz="1400" smtClean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(median 648)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498080" y="2450592"/>
            <a:ext cx="4142232" cy="77724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680960" y="245059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smtClean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495–801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372600" y="2450592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to highest score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498080" y="3346704"/>
            <a:ext cx="4142232" cy="77724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0" y="3346704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smtClean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 / 581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9372600" y="3346704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/ first-time borrowers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498080" y="4242816"/>
            <a:ext cx="4142232" cy="77724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680960" y="424281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smtClean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648 (81%)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9372600" y="4242816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— grades A–C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498080" y="5138928"/>
            <a:ext cx="4142232" cy="77724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680960" y="513892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smtClean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 (19%)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9372600" y="5138928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— grades D–E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separates the grades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read: </a:t>
            </a: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is the average points (0–100) that customers in that grade scored on that criteria. Darker = higher. E.g</a:t>
            </a:r>
            <a:r>
              <a:rPr lang="en-US" sz="15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500" smtClean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A-grade customers averaged 86.3 on Income, D-grade only 44.6.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542927"/>
              </p:ext>
            </p:extLst>
          </p:nvPr>
        </p:nvGraphicFramePr>
        <p:xfrm>
          <a:off x="548640" y="2057400"/>
          <a:ext cx="7498080" cy="35661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(35%)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(25%)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(20%)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(10%)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 (10%)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400" dirty="0">
                        <a:solidFill>
                          <a:srgbClr val="FFFFF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86.3</a:t>
                      </a:r>
                      <a:endParaRPr lang="en-US" sz="1400" dirty="0">
                        <a:solidFill>
                          <a:srgbClr val="FFFFF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2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66.3</a:t>
                      </a:r>
                      <a:endParaRPr lang="en-US" sz="1400" dirty="0">
                        <a:solidFill>
                          <a:srgbClr val="FFFFF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8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83.7</a:t>
                      </a:r>
                      <a:endParaRPr lang="en-US" sz="1400" dirty="0">
                        <a:solidFill>
                          <a:srgbClr val="FFFFF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57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69.1</a:t>
                      </a:r>
                      <a:endParaRPr lang="en-US" sz="1400" dirty="0">
                        <a:solidFill>
                          <a:srgbClr val="FFFFF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73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B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400" dirty="0">
                        <a:solidFill>
                          <a:srgbClr val="FFFFF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69.2</a:t>
                      </a:r>
                      <a:endParaRPr lang="en-US" sz="1400" dirty="0">
                        <a:solidFill>
                          <a:srgbClr val="FFFFF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73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58.6</a:t>
                      </a:r>
                      <a:endParaRPr lang="en-US" sz="1400" dirty="0">
                        <a:solidFill>
                          <a:srgbClr val="FFFFF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87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79.7</a:t>
                      </a:r>
                      <a:endParaRPr lang="en-US" sz="1400" dirty="0">
                        <a:solidFill>
                          <a:srgbClr val="FFFFF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F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57.3</a:t>
                      </a:r>
                      <a:endParaRPr lang="en-US" sz="1400" dirty="0">
                        <a:solidFill>
                          <a:srgbClr val="FFFFF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9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</a:t>
                      </a:r>
                      <a:endParaRPr lang="en-US" sz="1400" dirty="0">
                        <a:solidFill>
                          <a:srgbClr val="FFFFF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1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58.9</a:t>
                      </a:r>
                      <a:endParaRPr lang="en-US" sz="1400" dirty="0">
                        <a:solidFill>
                          <a:srgbClr val="FFFFF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86A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smtClean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54.8</a:t>
                      </a:r>
                      <a:endParaRPr lang="en-US" sz="1400" dirty="0">
                        <a:solidFill>
                          <a:srgbClr val="1F3864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8E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</a:t>
                      </a:r>
                      <a:endParaRPr lang="en-US" sz="1400" dirty="0">
                        <a:solidFill>
                          <a:srgbClr val="FFFFF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62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smtClean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54.8</a:t>
                      </a:r>
                      <a:endParaRPr lang="en-US" sz="1400" dirty="0">
                        <a:solidFill>
                          <a:srgbClr val="1F3864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8E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6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smtClean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</a:t>
                      </a:r>
                      <a:endParaRPr lang="en-US" sz="1400" dirty="0">
                        <a:solidFill>
                          <a:srgbClr val="1F3864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smtClean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44.6</a:t>
                      </a:r>
                      <a:endParaRPr lang="en-US" sz="1400" dirty="0">
                        <a:solidFill>
                          <a:srgbClr val="1F3864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1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smtClean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48.3</a:t>
                      </a:r>
                      <a:endParaRPr lang="en-US" sz="1400" dirty="0">
                        <a:solidFill>
                          <a:srgbClr val="1F3864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A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71.7</a:t>
                      </a:r>
                      <a:endParaRPr lang="en-US" sz="1400" dirty="0">
                        <a:solidFill>
                          <a:srgbClr val="FFFFF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E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smtClean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49.2</a:t>
                      </a:r>
                      <a:endParaRPr lang="en-US" sz="1400" dirty="0">
                        <a:solidFill>
                          <a:srgbClr val="1F3864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99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smtClean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400" dirty="0">
                        <a:solidFill>
                          <a:srgbClr val="1F3864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smtClean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46.7</a:t>
                      </a:r>
                      <a:endParaRPr lang="en-US" sz="1400" dirty="0">
                        <a:solidFill>
                          <a:srgbClr val="1F3864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9D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smtClean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</a:t>
                      </a:r>
                      <a:endParaRPr lang="en-US" sz="1400" dirty="0">
                        <a:solidFill>
                          <a:srgbClr val="1F3864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AA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85.0</a:t>
                      </a:r>
                      <a:endParaRPr lang="en-US" sz="1400" dirty="0">
                        <a:solidFill>
                          <a:srgbClr val="FFFFF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4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smtClean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</a:t>
                      </a:r>
                      <a:endParaRPr lang="en-US" sz="1400" dirty="0">
                        <a:solidFill>
                          <a:srgbClr val="1F3864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8E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21040" y="2057400"/>
            <a:ext cx="3319272" cy="356616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321040" y="2057400"/>
            <a:ext cx="64008" cy="356616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549640" y="219456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tells us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549640" y="2606040"/>
            <a:ext cx="29535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Behaviour is the big divider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smtClean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A–C average 96–100, D/E only 5–21: </a:t>
            </a: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repayment record pushes a borrower to rejection</a:t>
            </a:r>
            <a:endParaRPr lang="en-US" sz="14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smtClean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and Demographics fall steadily A → D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smtClean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decide where a customer lands across the range (E is a single customer)</a:t>
            </a:r>
            <a:endParaRPr lang="en-US" sz="14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Relationship barely moves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 adjustment, as its 10% weight intends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smtClean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averages cover the 219 repeat borrowers only. Grades are calculated from these points, so this shows what drives a grade, not proof that the model is right.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DASHBOARD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6949440" cy="4572000"/>
          </a:xfrm>
          <a:prstGeom prst="rect">
            <a:avLst/>
          </a:prstGeom>
          <a:solidFill>
            <a:srgbClr val="EEF2F9"/>
          </a:solidFill>
          <a:ln w="12700">
            <a:noFill/>
            <a:prstDash val="dash"/>
          </a:ln>
          <a:extLst>
            <a:ext uri="{91240B29-F687-4F45-9708-019B960494DF}">
              <a14:hiddenLine xmlns:a14="http://schemas.microsoft.com/office/drawing/2010/main" w="12700">
                <a:solidFill>
                  <a:srgbClr val="BFBFBF"/>
                </a:solidFill>
                <a:prstDash val="dash"/>
              </a14:hiddenLine>
            </a:ext>
          </a:extLst>
        </p:spPr>
      </p:sp>
      <p:sp>
        <p:nvSpPr>
          <p:cNvPr id="8" name="Shape 5"/>
          <p:cNvSpPr/>
          <p:nvPr/>
        </p:nvSpPr>
        <p:spPr>
          <a:xfrm>
            <a:off x="7772400" y="1463040"/>
            <a:ext cx="3867912" cy="45720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0" y="1463040"/>
            <a:ext cx="64008" cy="45720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1600200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01000" y="2011680"/>
            <a:ext cx="35021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overview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scored, average score, grade distribution, approve vs reject</a:t>
            </a:r>
            <a:endParaRPr lang="en-US" sz="14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breakdown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points per criteria by grade</a:t>
            </a:r>
            <a:endParaRPr lang="en-US" sz="14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drill-down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customer → metric points → weights → final score and grade</a:t>
            </a:r>
            <a:endParaRPr lang="en-US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822960" y="1874520"/>
            <a:ext cx="6400800" cy="461665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pPr algn="ctr"/>
            <a:r>
              <a:rPr lang="en-US" sz="2400" b="1" smtClean="0">
                <a:solidFill>
                  <a:srgbClr val="1F3864"/>
                </a:solidFill>
                <a:latin typeface="Calibri" panose="020F0502020204030204" pitchFamily="34" charset="0"/>
              </a:rPr>
              <a:t>Live Streamlit dashboard</a:t>
            </a:r>
            <a:endParaRPr lang="en-US" sz="2400" b="1">
              <a:solidFill>
                <a:srgbClr val="1F3864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6400800" cy="323165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pPr algn="ctr"/>
            <a:r>
              <a:rPr lang="en-US" sz="1500" smtClean="0">
                <a:solidFill>
                  <a:srgbClr val="595959"/>
                </a:solidFill>
                <a:latin typeface="Calibri" panose="020F0502020204030204" pitchFamily="34" charset="0"/>
              </a:rPr>
              <a:t>Reads the scorecard live from our PostgreSQL database</a:t>
            </a:r>
            <a:endParaRPr lang="en-US" sz="150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Dashboard link">
            <a:hlinkClick r:id="rId3" tooltip="https://da-assignment.iamrithy.com"/>
          </p:cNvPr>
          <p:cNvSpPr/>
          <p:nvPr/>
        </p:nvSpPr>
        <p:spPr>
          <a:xfrm>
            <a:off x="1737360" y="3063240"/>
            <a:ext cx="4572000" cy="960120"/>
          </a:xfrm>
          <a:prstGeom prst="round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FFFFFF"/>
                </a:solidFill>
                <a:latin typeface="Calibri" panose="020F0502020204030204" pitchFamily="34" charset="0"/>
              </a:rPr>
              <a:t>Open live dashboard  →</a:t>
            </a:r>
            <a:endParaRPr lang="en-US" sz="24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6400800" cy="338554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4472C4"/>
                </a:solidFill>
                <a:latin typeface="Calibri" panose="020F0502020204030204" pitchFamily="34" charset="0"/>
                <a:hlinkClick r:id="rId3"/>
              </a:rPr>
              <a:t>da-assignment.iamrithy.com</a:t>
            </a:r>
            <a:endParaRPr lang="en-US" sz="1600" dirty="0">
              <a:solidFill>
                <a:srgbClr val="4472C4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6400800" cy="307777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pPr algn="ctr"/>
            <a:r>
              <a:rPr lang="en-US" sz="1400" smtClean="0">
                <a:solidFill>
                  <a:srgbClr val="595959"/>
                </a:solidFill>
                <a:latin typeface="Calibri" panose="020F0502020204030204" pitchFamily="34" charset="0"/>
              </a:rPr>
              <a:t>Demo: open Customer drill-down → click “B · #3 · 726”. It matches worked example 1.</a:t>
            </a:r>
            <a:endParaRPr lang="en-US" sz="140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DATA QUALITY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&amp; data quality risks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4572000" cy="310896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508760"/>
            <a:ext cx="64008" cy="3108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645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05740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full_name, date_of_birth</a:t>
            </a:r>
            <a:endParaRPr lang="en-US" sz="14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CFI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transactions, balances, loan amounts, payment &amp; delinquency history</a:t>
            </a:r>
            <a:endParaRPr lang="en-US" sz="14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CFI (derived)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scores — they decide approve / reject</a:t>
            </a:r>
            <a:endParaRPr lang="en-US" sz="14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 "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or restrict at the view / query layer, since every table joins back to customer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508760"/>
          <a:ext cx="6153912" cy="246888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element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on 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monthly_income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Self-declared, not verified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inflate Income &amp; Capacity (25%)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snapshots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batch run leaves gaps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Balance-trend slope can change sign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LIMITATIONS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303520" cy="310896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508760"/>
            <a:ext cx="64008" cy="310896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05740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only partly grounded in the UCI dataset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set by judgment, not fitted to real default outcomes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approve / reject — no manual review step for borderline grade C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Quartile bands are relative: a customer's points depend on the rest of the population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9360" y="1508760"/>
            <a:ext cx="5303520" cy="310896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0" y="1508760"/>
            <a:ext cx="64008" cy="3108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537960" y="205740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weights and bands on real historical defaults (e.g. Weight of Evidence / Information Value)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'pending' manual review route for grade C (the schema already allows it)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script 06 as a scheduled batch and keep each run's history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batch scores to generate proactive loan offers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 smtClean="0">
                <a:solidFill>
                  <a:srgbClr val="D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3973</Words>
  <Application>Microsoft Office PowerPoint</Application>
  <PresentationFormat>Widescreen</PresentationFormat>
  <Paragraphs>647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Credit Risk Scoring — Stage 2</dc:title>
  <dc:subject>PptxGenJS Presentation</dc:subject>
  <dc:creator>PptxGenJS</dc:creator>
  <cp:lastModifiedBy>USER</cp:lastModifiedBy>
  <cp:revision>22</cp:revision>
  <dcterms:created xsi:type="dcterms:W3CDTF">2026-10-03T11:22:40Z</dcterms:created>
  <dcterms:modified xsi:type="dcterms:W3CDTF">2026-10-03T14:21:52Z</dcterms:modified>
</cp:coreProperties>
</file>