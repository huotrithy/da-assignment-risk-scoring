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(low)</c:v>
                  </c:pt>
                  <c:pt idx="1">
                    <c:v>2</c:v>
                  </c:pt>
                  <c:pt idx="2">
                    <c:v>3</c:v>
                  </c:pt>
                  <c:pt idx="3">
                    <c:v>4 (high)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0.268</c:v>
                </c:pt>
                <c:pt idx="2">
                  <c:v>0.287</c:v>
                </c:pt>
                <c:pt idx="3">
                  <c:v>0.33399999999999996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&lt; 0</c:v>
                  </c:pt>
                  <c:pt idx="1">
                    <c:v>0–200</c:v>
                  </c:pt>
                  <c:pt idx="2">
                    <c:v>≥ 200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0.493</c:v>
                </c:pt>
                <c:pt idx="1">
                  <c:v>0.39</c:v>
                </c:pt>
                <c:pt idx="2">
                  <c:v>0.222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None</c:v>
                  </c:pt>
                  <c:pt idx="1">
                    <c:v>&lt; 1</c:v>
                  </c:pt>
                  <c:pt idx="2">
                    <c:v>1–4</c:v>
                  </c:pt>
                  <c:pt idx="3">
                    <c:v>4–7</c:v>
                  </c:pt>
                  <c:pt idx="4">
                    <c:v>7+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0.371</c:v>
                </c:pt>
                <c:pt idx="1">
                  <c:v>0.40700000000000003</c:v>
                </c:pt>
                <c:pt idx="2">
                  <c:v>0.307</c:v>
                </c:pt>
                <c:pt idx="3">
                  <c:v>0.22399999999999998</c:v>
                </c:pt>
                <c:pt idx="4">
                  <c:v>0.253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0–5</c:v>
                  </c:pt>
                  <c:pt idx="1">
                    <c:v>6–10</c:v>
                  </c:pt>
                  <c:pt idx="2">
                    <c:v>11–15</c:v>
                  </c:pt>
                  <c:pt idx="3">
                    <c:v>16+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0.261</c:v>
                </c:pt>
                <c:pt idx="1">
                  <c:v>0.23199999999999998</c:v>
                </c:pt>
                <c:pt idx="2">
                  <c:v>0.317</c:v>
                </c:pt>
                <c:pt idx="3">
                  <c:v>0.368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1.5k</c:v>
                  </c:pt>
                  <c:pt idx="1">
                    <c:v>1.5–3k</c:v>
                  </c:pt>
                  <c:pt idx="2">
                    <c:v>3–6k</c:v>
                  </c:pt>
                  <c:pt idx="3">
                    <c:v>6k+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0.28800000000000003</c:v>
                </c:pt>
                <c:pt idx="1">
                  <c:v>0.248</c:v>
                </c:pt>
                <c:pt idx="2">
                  <c:v>0.28600000000000003</c:v>
                </c:pt>
                <c:pt idx="3">
                  <c:v>0.456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494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Grade A</c:v>
                  </c:pt>
                  <c:pt idx="1">
                    <c:v>Grade B</c:v>
                  </c:pt>
                  <c:pt idx="2">
                    <c:v>Grade C</c:v>
                  </c:pt>
                  <c:pt idx="3">
                    <c:v>Grade D</c:v>
                  </c:pt>
                  <c:pt idx="4">
                    <c:v>Grade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219</c:v>
                </c:pt>
                <c:pt idx="2">
                  <c:v>435</c:v>
                </c:pt>
                <c:pt idx="3">
                  <c:v>117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covered the business model and requirements. Stage 2 shows how we built it: the data workflow, the database, the scoring logic, and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from stage 1. The key point: the score must use internal data only and must be explainable — every criteria and weight is traceable.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walk-through, in the order the data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right. Steps 3–5 are SQL script files in the scripts/ folder, run in order 01 to 07. Scripts 01–05 each compute one criteria, so each one's logic can be reviewed on its own; 06 combines them and saves the result; 07 checks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table traces back to customer. The scorecard reads the raw tables and writes its result into calculated_risk_score.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synthetic but grounded in a real dataset where one exists. We also use the same real dataset later as evidence that our metrics relate to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5 rows of bootstrap/german_credit.data, decoded with the UCI code list. Point out: each row is one loan, the only outcome is good/bad (no score), and there are no transactions or balances over time — that is why the rest of our data is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from business question to score. Each of the 12 metrics is a question a loan officer would ask; the SQL answers it the same way for every customer and turns the answer into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chart uses the real UCI German Credit data (1,000 loans, 30% defaulted). Each bar is the % of loans in that group that went bad. It is not our mock data, so it is independent evidence that the direction of each metric is right. Employment length is a proxy for account tenure (both measure stability over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structure as FICO-style scorecards. Every metric becomes points from 0 to 100, so different units (money, counts, ratios) can be combined.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300–850 range is only the display scale; the ranking of customers comes from the 0–100 composite. The grade cut-offs are a policy choice by the bank, not a calculation — a bank with more appetite for risk would set them lower.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were set by judgment, based on what usually matters most in retail scorecards. A real bank would fit them statistically on historical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metric ends up as 100, 70, 40 or 10 points. The only question is how we decide which band a customer lands in. Payment uses fixed limits; everything else is ranked against the other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240 customers who already have a loan with us have payment history. For the other 560 the 35% is shared across the other criteria. Fixed limits, because repayment means the same in any population.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Ability to repay. Income is the latest declared amount for each income type, added up. Debt-to-income uses the customer's latest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customer manages money day to day. Especially useful for first-time borrowers, who have no payment history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stability signal. Low weight because it says less about ability to repay than income or payment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the lowest weight, so non-behavioural factors like age can only nudge the score, not decide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row from calculated_risk_score. Metric points come from scripts 01–05 for customer 13. Walk through one row, e.g. Income: 40 + 60 + 100, divided by 3, is 66.67; times 0.25 is 16.67.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customer has no loan account, so Payment Behaviour is empty and its 35% is redistributed: each other weight divided by 0.65. Debt-to-income and amount-vs-range get the neutral 55 because there is no application on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 is a realistic skew: most customers in the middle (C), a small top tier (A), and a thin tail of D/E. Under the approval policy, 681 customers (85%) would be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criteria points per grade. Read across a row to compare grades. Payment Behaviour is averaged only over repeat borrowers in each 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if possible: open the app on port 8502. Show the overview, then pick customer 13 in the drill-down — it matches worked example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PII and CFI apply — no telecom (CPNI) or health (PHI) data in this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model logic is sound and traceable, but the weights and data are not validated against real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1 — ASSIGNMENT, STAGE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Credit Risk Scoring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database &amp; scoring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1097280" cy="54864"/>
          </a:xfrm>
          <a:prstGeom prst="rect">
            <a:avLst/>
          </a:prstGeom>
          <a:solidFill>
            <a:srgbClr val="A9C1E8"/>
          </a:solidFill>
          <a:ln w="12700">
            <a:solidFill>
              <a:srgbClr val="A9C1E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goal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0352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54480"/>
            <a:ext cx="64008" cy="3108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that default cost the bank money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by loan officers is slow and inconsistent — two officers can decide differently on the same customer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30352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554480"/>
            <a:ext cx="64008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21031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customer consistently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of 300–850 and a risk grade A–E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internal data only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transactions, income, repayment history — no credit bureau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 two ways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Reactive: when a loan application arrives · Proactive: a batch scan of existing customers to make loan offers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explainable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criteria and weight is visible, not a black box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490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0" y="14904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stored score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16712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754880" y="21488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 in PostgreSQL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282549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28072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754880" y="28072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metrics, each answering one business question — with real-data evidence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3483864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46557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754880" y="346557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points, score range &amp; grades, worked examples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142232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80160" y="412394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754880" y="412394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 for 800 customers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80160" y="4782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754880" y="4782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of the results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8640" y="545896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280160" y="5440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limitations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4754880" y="5440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80972" cy="237744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UCI German Credit loans + Faker → consistent data for 800 customers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179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generate_data.js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4790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430780" y="1737360"/>
            <a:ext cx="1680972" cy="2377440"/>
          </a:xfrm>
          <a:prstGeom prst="rect">
            <a:avLst/>
          </a:prstGeom>
          <a:solidFill>
            <a:srgbClr val="B4C7E7"/>
          </a:solidFill>
          <a:ln w="12700">
            <a:solidFill>
              <a:srgbClr val="B4C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3078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50393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database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4050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13 tables linked by customer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50393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01_schema.sql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3004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312920" y="1737360"/>
            <a:ext cx="1680972" cy="237744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1292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607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metrics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2264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 per criteria: raw data → metric points for every customer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38607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 01–05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1218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195060" y="1737360"/>
            <a:ext cx="1680972" cy="237744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9506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26821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score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0478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the 5 criteria → score 300–850 → grade A–E, saved per customer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26821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06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89432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077200" y="1737360"/>
            <a:ext cx="1680972" cy="237744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7720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15035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18692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 and a 20-customer spot check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15035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07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77646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959340" y="1737360"/>
            <a:ext cx="1680972" cy="2377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95934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003249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006906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report on the results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548640" y="4389120"/>
            <a:ext cx="356311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4480560"/>
            <a:ext cx="356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database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312920" y="4389120"/>
            <a:ext cx="544525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12920" y="4480560"/>
            <a:ext cx="544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(SQL)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959340" y="4389120"/>
            <a:ext cx="168097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959340" y="4480560"/>
            <a:ext cx="1680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is split into numbered SQL scripts (01–07), run in order, so each step can be checked on its own. Every script is safe to re-run.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13 tables in 4 groups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8288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1031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60604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income_source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1554480"/>
            <a:ext cx="18288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behaviour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514600" y="21031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21031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14600" y="260604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0" y="260604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514600" y="310896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0" y="310896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account_balance_history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80560" y="1554480"/>
            <a:ext cx="18288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lifecycle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480560" y="21031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1031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loan_product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80560" y="260604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60604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loan_offer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80560" y="310896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10896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loan_application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480560" y="361188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61188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loan_account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480560" y="411480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11480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payment_history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80560" y="46177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177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delinquency_event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46520" y="1554480"/>
            <a:ext cx="18288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4652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446520" y="21031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92240" y="21031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46520" y="260604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92240" y="260604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calculated_risk_score (our output)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64108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641080" y="210312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8641080" y="260604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1,063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8641080" y="310896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21,260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8641080" y="361188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8641080" y="411480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accounts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8641080" y="461772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1,440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payments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548640" y="52578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links back to customer, so one customer's income, accounts, transactions and loans can be joined into one picture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calculated_risk_score holds the output of our SQL scorecard: one row per customer with each criteria's points, the score and the grade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03520" cy="23774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54480"/>
            <a:ext cx="64008" cy="2377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data: UCI German Credit (1,000 loans)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 — make the mock data realistic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ages, loan amounts and loan terms; the real good / bad outcome decides which mock loans are approved and which fall behind on payments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 — evidence for our metrics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rates in the real loans show each metric points the right way (section 3)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303520" cy="23774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554480"/>
            <a:ext cx="64008" cy="2377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(Faker + rules)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21031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dates, transaction amounts &amp; categories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trends and account tenure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keep each customer's accounts, transactions and loans consistent with one risk level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160520"/>
            <a:ext cx="11091672" cy="10058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20624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scorecard itself (SQL scripts 01–07) never reads the UCI file — it only scores the 13 tables in our PostgreSQL database.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real data looks like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 — one line per applicant, mostly codes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91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A11 6 A34 A43 1169 A65 A75 4 A93 A101 4 A121 67 A143 A152 2 A173 1 A192 A201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— 5 real applicants, only the columns we use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00200"/>
                <a:gridCol w="1417320"/>
                <a:gridCol w="1325880"/>
                <a:gridCol w="1737360"/>
                <a:gridCol w="1280160"/>
                <a:gridCol w="822960"/>
                <a:gridCol w="19019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balance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Installment burden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in job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1,169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(high)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0–200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5,951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2,096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7,882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4,870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166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real loans, 20 attributes each, outcome = good or bad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score in the data — only whether the loan was repaid</a:t>
            </a:r>
            <a:endParaRPr lang="en-US" sz="15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transactions, balances over time or payment history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our accounts, transactions and payments are generated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ANALYTICAL 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answers one analytical question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4142232"/>
                <a:gridCol w="2468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goes up with…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Behaviour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on-time 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customer pay their installments on time?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more on-time 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delinquency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the customer ever fallen seriously behind?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no or only mild delinquency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&amp; Capacity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income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customer earn enough to repay?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higher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diversification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income continue if one source stopped?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2+ income sources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loan reasonable for this income?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smaller loan vs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Behaviour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account activity normal, or dormant / erratic?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activity close to typical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Spend-to-income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customer spend more than they earn?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lower spending vs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trend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customer's balance growing or shrinking?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rising 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Relationship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tenure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has the customer banked with us?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longer relationship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 customer's accounts still in use?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all accounts 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 &amp; Loan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customer in the lowest-default age range?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age near 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vs product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customer asking for the top of what the product allows?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smaller share of the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ANALYTICAL 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these factors predict default in real loans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544824" cy="233172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81328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CAPACITY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719072"/>
            <a:ext cx="317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as % of disposable income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2011680"/>
          <a:ext cx="3361944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731520" y="3337560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repayment burden → more defaults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22064" y="1371600"/>
            <a:ext cx="3544824" cy="233172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04944" y="1481328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BEHAVIOUR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04944" y="1719072"/>
            <a:ext cx="317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account balance (DM)</a:t>
            </a:r>
            <a:endParaRPr lang="en-US" sz="13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4413504" y="2011680"/>
          <a:ext cx="3361944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0"/>
          <p:cNvSpPr/>
          <p:nvPr/>
        </p:nvSpPr>
        <p:spPr>
          <a:xfrm>
            <a:off x="4504944" y="3337560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balance → fewer defaults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95488" y="1371600"/>
            <a:ext cx="3544824" cy="233172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78368" y="1481328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RELATIONSHIP (PROXY)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278368" y="1719072"/>
            <a:ext cx="317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current job</a:t>
            </a:r>
            <a:endParaRPr lang="en-US" sz="1300" dirty="0"/>
          </a:p>
        </p:txBody>
      </p:sp>
      <p:graphicFrame>
        <p:nvGraphicFramePr>
          <p:cNvPr id="19" name="Chart 2" descr=""/>
          <p:cNvGraphicFramePr/>
          <p:nvPr/>
        </p:nvGraphicFramePr>
        <p:xfrm>
          <a:off x="8186928" y="2011680"/>
          <a:ext cx="3361944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 14"/>
          <p:cNvSpPr/>
          <p:nvPr/>
        </p:nvSpPr>
        <p:spPr>
          <a:xfrm>
            <a:off x="8278368" y="3337560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stability → fewer defaults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3840480"/>
            <a:ext cx="5431536" cy="233172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31520" y="3950208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AGE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31520" y="418795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away from age 42</a:t>
            </a:r>
            <a:endParaRPr lang="en-US" sz="1300" dirty="0"/>
          </a:p>
        </p:txBody>
      </p:sp>
      <p:graphicFrame>
        <p:nvGraphicFramePr>
          <p:cNvPr id="24" name="Chart 3" descr=""/>
          <p:cNvGraphicFramePr/>
          <p:nvPr/>
        </p:nvGraphicFramePr>
        <p:xfrm>
          <a:off x="640080" y="4480560"/>
          <a:ext cx="5248656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 18"/>
          <p:cNvSpPr/>
          <p:nvPr/>
        </p:nvSpPr>
        <p:spPr>
          <a:xfrm>
            <a:off x="731520" y="580644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from 42 → more defaults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208776" y="3840480"/>
            <a:ext cx="5431536" cy="233172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391656" y="3950208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LOAN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391656" y="418795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(DM)</a:t>
            </a:r>
            <a:endParaRPr lang="en-US" sz="1300" dirty="0"/>
          </a:p>
        </p:txBody>
      </p:sp>
      <p:graphicFrame>
        <p:nvGraphicFramePr>
          <p:cNvPr id="29" name="Chart 4" descr=""/>
          <p:cNvGraphicFramePr/>
          <p:nvPr/>
        </p:nvGraphicFramePr>
        <p:xfrm>
          <a:off x="6300216" y="4480560"/>
          <a:ext cx="5248656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 22"/>
          <p:cNvSpPr/>
          <p:nvPr/>
        </p:nvSpPr>
        <p:spPr>
          <a:xfrm>
            <a:off x="6391656" y="580644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loans → most defaults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= share of applicants who defaulted, in 1,000 real loans (UCI Statlog German Credit Data; average 30%). Balance chart leaves out applicants with no checking account.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score is built: a weighted scorecard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→ points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is put into a band and gets 0–100 points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24328" y="2788920"/>
            <a:ext cx="15544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98064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98064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889504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criteria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935224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its metric points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73752" y="2788920"/>
            <a:ext cx="15544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047488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47488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138928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84648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(0–100) = Σ weight × criteria points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23176" y="2788920"/>
            <a:ext cx="15544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296912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96912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388352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34072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300 + composite × 5.5  (range 300–850)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372600" y="2788920"/>
            <a:ext cx="15544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546336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46336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9637776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683496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grade A–E → approve / reject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4206240"/>
            <a:ext cx="11091672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429768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= 0.35×Payment + 0.25×Income + 0.20×Transaction + 0.10×Account + 0.10×Demographics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   = ROUND(300 + Composite × 5.5)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5.5? It maps the 0–100 composite onto the 300–850 score range: (850 − 300) ÷ 100 = 5.5.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300–850, and what makes an A or an 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4846320" cy="25146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63040"/>
            <a:ext cx="64008" cy="2514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300–850?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01168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range as FICO, the best-known credit score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has seen a credit score can read ours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conversion from the composite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300 + composite × 5.5 → composite 0 = 300, composite 100 = 850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doesn't change who ranks higher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makes the result easier to read and compare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63040"/>
          <a:ext cx="59710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1828800"/>
                <a:gridCol w="149047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750–850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680–749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600–679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500–599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300–499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160520"/>
            <a:ext cx="4846320" cy="18288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4160520"/>
            <a:ext cx="64008" cy="1828800"/>
          </a:xfrm>
          <a:prstGeom prst="rect">
            <a:avLst/>
          </a:prstGeom>
          <a:solidFill>
            <a:srgbClr val="C88A00"/>
          </a:solidFill>
          <a:ln w="12700">
            <a:solidFill>
              <a:srgbClr val="C88A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grade cut-offs come from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77240" y="47091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policy choice (risk appetite), not a calculation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them close to FICO's bands: Good 670+, Fair 580–669, Poor below 580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from 600 (grade C and above)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bank might send grade C to manual review instead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criteria and their weights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Behaviour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66160" y="1709928"/>
            <a:ext cx="384048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21040" y="164592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repayment is the strongest predictor (repeat borrowers only)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Capacity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566160" y="2368296"/>
            <a:ext cx="274320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3042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21040" y="230428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measure of ability to repay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9626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Behaviour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566160" y="3026664"/>
            <a:ext cx="219456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6265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21040" y="296265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discipline — useful for first-time borrowers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3621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Relationship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566160" y="3685032"/>
            <a:ext cx="109728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6210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21040" y="3621024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and account status as a stability signal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4279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Loan Context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566160" y="4343400"/>
            <a:ext cx="109728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4279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321040" y="4279392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low on purpose — a light adjustment only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1672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507492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applicants 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loan yet, so no payment history — 560 of 800 customers): the 35% is shared out proportionally, each other weight ÷ 0.65 →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38.5% · Transaction 30.8% · Account 15.4% · Demographics 15.4%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They are not punished with zero points for missing history.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metric turns into points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394960" cy="33375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Fixed limits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 number means the same for everyone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% of payments made on time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834640"/>
            <a:ext cx="1152144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020824" y="2834640"/>
            <a:ext cx="1152144" cy="914400"/>
          </a:xfrm>
          <a:prstGeom prst="rect">
            <a:avLst/>
          </a:prstGeom>
          <a:solidFill>
            <a:srgbClr val="7CB3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0824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85–94%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pts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64408" y="2834640"/>
            <a:ext cx="1152144" cy="914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64408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70–84%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07992" y="2834640"/>
            <a:ext cx="1152144" cy="914400"/>
          </a:xfrm>
          <a:prstGeom prst="rect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07992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70%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95% on time is good in any bank, so the limit doesn't need the other customers.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45352" y="1463040"/>
            <a:ext cx="5394960" cy="33375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Ranked against all customers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73952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there is no universal “good” value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73952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monthly income — sort all 800 customers, cut into 4 groups of 200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73952" y="2834640"/>
            <a:ext cx="1152144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73952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25%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717536" y="2834640"/>
            <a:ext cx="1152144" cy="914400"/>
          </a:xfrm>
          <a:prstGeom prst="rect">
            <a:avLst/>
          </a:prstGeom>
          <a:solidFill>
            <a:srgbClr val="7CB3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17536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25%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pts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961120" y="2834640"/>
            <a:ext cx="1152144" cy="914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61120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25%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204704" y="2834640"/>
            <a:ext cx="1152144" cy="914400"/>
          </a:xfrm>
          <a:prstGeom prst="rect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04704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25%</a:t>
            </a:r>
            <a:endParaRPr lang="en-US" sz="13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73952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1,500 a month is “high” depends on the customer base, so we compare customers with each other. This also spreads customers across all grades.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49834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(4 metrics): on-time %, worst delinquency, income diversification, account status · Ranked (8 metrics): all other ratios and trends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CASE WHEN for fixed limits, NTILE(4) for ranking</a:t>
            </a:r>
            <a:endParaRPr lang="en-US" sz="15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→ 55 points, the middle of 10 and 100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no loan application yet, so no debt-to-income — the customer is neither rewarded nor punished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1 — Payment Behaviour (35%)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on-time payments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the customer pay their installments on time?”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repayment is the best guide to future repayment — people who paid on time usually keep doing so.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installments ÷ all installments, from payment_history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≥ 95% → 100 · 85–94% → 70 · 70–84% → 40 · &lt; 70%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08776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91656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delinquency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91656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 the customer ever fallen seriously behind?”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91656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91656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90 days late or written off shows serious financial distress. How far behind matters more than one late day.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91656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91656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severe event in delinquency_event across the customer's loans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91656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83096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none → 100 · 30 days → 60 · 60 days → 30 · 90 days / write-off → 0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2 metrics · scripts/01_metric_payment_behavior.sql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2 — Income &amp; Capacity (25%)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level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the customer earn enough to repay?”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income leaves more room to pay installments after living costs.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the latest monthly_income for each income type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highest 25% → 100 · 70 · 40 · lowest 25%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22064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22064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4944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diversification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04944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income continue if one source stopped?”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04944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04944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income (e.g. salary + rental) cushions the customer if one is lost.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04944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04944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different income types the customer declares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04944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96384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2 or more → 100 · 1 → 60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095488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5488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78368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278368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loan reasonable for this income?”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78368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278368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the loan compared with income, the heavier each installment and the easier it is to fall behind.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78368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278368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requested amount ÷ total monthly income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278368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69808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lowest ratio → 100 · 70 · 40 · highest → 10 · no application → 55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3 metrics · scripts/02_metric_income_capacity.sql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3 — Transaction Behaviour (20%)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account activity normal, or dormant / erratic?”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activity means we know little about the customer; very heavy, erratic activity can mean cash-flow stress.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transactions per active month, compared with the median customer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closest to median → 100 · 70 · 40 · furthest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22064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22064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4944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Spend-to-income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04944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the customer spend more than they earn?”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04944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04944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more than comes in drains savings and leaves nothing spare for loan repayments.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04944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04944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 ÷ total income transactions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04944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96384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lowest ratio → 100 · 70 · 40 · highest → 10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095488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5488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78368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trend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278368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customer's balance growing or shrinking?”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78368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278368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balance builds a safety buffer; a shrinking one shows savings being used up.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78368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278368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of closing balance over 26 weekly snapshots (REGR_SLOPE)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278368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69808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most rising → 100 · 70 · 40 · most falling → 10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3 metrics · scripts/03_metric_transaction_behavior.sql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4 — Account Relationship (10%)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tenure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long has the customer banked with us?”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relationship gives the bank more history to judge, and long-standing customers tend to be more stable.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the customer's first account was opened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longest 25% → 100 · 70 · 40 · newest 25%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08776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91656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91656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the customer's accounts still in use?”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91656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91656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or closed accounts give less recent data and can mean the customer is drifting away or banking elsewhere.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91656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91656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accounts compared with all the customer's accounts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91656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83096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all active → 100 · some active → 40 · none active → 0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2 metrics · scripts/04_metric_account_relationship.sql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5 — Demographics &amp; Loan Context (10%)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customer in the lowest-default age range?”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young borrowers often have less stable income; in real loan data, defaults are lowest within about 10 years of age 42.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the customer's age and 42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closest to 42 → 100 · 70 · 40 · furthest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08776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91656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vs product range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91656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customer asking for the top of what the product allows?”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91656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91656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the maximum means more money at risk and can mean the customer is stretching.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91656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91656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requested amount sits between the product's minimum and maximum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91656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83096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lowest share → 100 · 70 · 40 · highest → 10 · no application → 55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2 metrics · scripts/05_metric_demographics.sql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 — repeat borrower (customer 13)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76472"/>
                <a:gridCol w="1554480"/>
                <a:gridCol w="137160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100 · Delinquency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&amp;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level 40 · Diversification 60 · DTI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10 · Spend ratio 70 · Balance trend 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40 · Status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70 · Amount vs range 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1109167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53035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300 + 74.17 × 5.5 = 707.9 → 708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708 is in 680–749 → grade B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988552" y="5349240"/>
            <a:ext cx="2468880" cy="86868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988552" y="5349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708 · Grade 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 — first-time applicant (customer 2)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76472"/>
                <a:gridCol w="1554480"/>
                <a:gridCol w="137160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loan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&amp;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level 70 · Diversification 100 · DTI 55 (neutral)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70 · Spend ratio 10 · Balance trend 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70 · Status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10 · Amount vs range 55 (neutral)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1109167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53035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300 + 59.23 × 5.5 = 625.8 → 626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626 is in 600–679 → grade C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988552" y="5349240"/>
            <a:ext cx="2468880" cy="86868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988552" y="5349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626 · Grade 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800 customers scored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554480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0" y="1554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372600" y="15544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(median 653)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98080" y="2450592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0" y="245059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479–790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372600" y="245059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to highest score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498080" y="3346704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0" y="334670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/ 560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9372600" y="3346704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 first-time borrowers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498080" y="4242816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80960" y="424281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681 (85%)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9372600" y="4242816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— grades A–C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498080" y="5138928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80960" y="513892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(15%)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9372600" y="513892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grades D–E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the grades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read: 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is the average points (0–100) that customers in that grade scored on that criteria. Darker = higher. E.g. A-grade customers averaged 81.9 on Income, E-grade only 26.7.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74980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16736"/>
                <a:gridCol w="1316736"/>
                <a:gridCol w="1316736"/>
                <a:gridCol w="1316736"/>
                <a:gridCol w="1316736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(35%)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(25%)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(20%)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(10%)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 (10%)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7E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3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18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79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87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D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8BA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8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88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8A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3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DA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93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A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F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9EB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AA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9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7D5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21040" y="2057400"/>
            <a:ext cx="3319272" cy="35661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321040" y="2057400"/>
            <a:ext cx="64008" cy="35661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49640" y="21945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549640" y="2606040"/>
            <a:ext cx="29535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Behaviour is the big divider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A–C average 91–100, D/E only 20–25: a bad repayment record pushes a borrower to rejection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Demographics fall steadily A → 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decide where a customer lands across the range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Relationship barely moves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adjustment, as its 10% weight intends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averages cover the 240 repeat borrowers only. Grades are calculated from these points, so this shows what drives a grade — not proof the model is right (see the evidence slide for that).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800" dirty="0"/>
          </a:p>
        </p:txBody>
      </p:sp>
      <p:pic>
        <p:nvPicPr>
          <p:cNvPr id="6" name="Image 0" descr="C:\Users\USER\Programming\School\data-analytic-assignment\docs\img\dashboa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431074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371600"/>
            <a:ext cx="6858000" cy="4310743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572806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 — </a:t>
            </a:r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customers per grade, score distribution with the grade cut-offs</a:t>
            </a:r>
            <a:endParaRPr lang="en-US" sz="1200" dirty="0"/>
          </a:p>
        </p:txBody>
      </p:sp>
      <p:pic>
        <p:nvPicPr>
          <p:cNvPr id="9" name="Image 1" descr="C:\Users\USER\Programming\School\data-analytic-assignment\docs\img\dashboard_crite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71600"/>
            <a:ext cx="3566160" cy="224158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074152" y="1371600"/>
            <a:ext cx="3566160" cy="2241586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074152" y="365890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by grade — </a:t>
            </a:r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points heatmap</a:t>
            </a:r>
            <a:endParaRPr lang="en-US" sz="1200" dirty="0"/>
          </a:p>
        </p:txBody>
      </p:sp>
      <p:pic>
        <p:nvPicPr>
          <p:cNvPr id="12" name="Image 2" descr="C:\Users\USER\Programming\School\data-analytic-assignment\docs\img\dashboard_custom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023360"/>
            <a:ext cx="3566160" cy="224158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074152" y="4023360"/>
            <a:ext cx="3566160" cy="2241586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074152" y="631066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drill-down — </a:t>
            </a:r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points → weights → score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(dashboard/app.py) reading live from PostgreSQL · runs in Docker on port 8502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 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&amp; data quality risks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457200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64008" cy="3108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0574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full_name, date_of_birth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CFI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transactions, balances, loan amounts, payment &amp; delinquency history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CFI (derived)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— they decide approve / reject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or restrict at the view / query layer, since every table joins back to customer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508760"/>
          <a:ext cx="615391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194560"/>
                <a:gridCol w="226771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monthly_income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Self-declared, not verified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inflate Income &amp; Capacity (25%)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snapshots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batch run leaves gaps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Balance-trend slope can change 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LIMITATIONS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0352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64008" cy="310896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0574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only partly grounded in the UCI dataset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set by judgment, not fitted to real default outcomes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approve / reject — no manual review step for borderline grade C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 bands are relative: a customer's points depend on the rest of the population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30352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508760"/>
            <a:ext cx="64008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20574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weights and bands on real historical defaults (e.g. Weight of Evidence / Information Value)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'pending' manual review route for grade C (the schema already allows it)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 06 as a scheduled batch and keep each run's history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batch scores to generate proactive loan offers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Credit Risk Scoring — Stage 2</dc:title>
  <dc:subject>PptxGenJS Presentation</dc:subject>
  <dc:creator>PptxGenJS</dc:creator>
  <cp:lastModifiedBy>PptxGenJS</cp:lastModifiedBy>
  <cp:revision>1</cp:revision>
  <dcterms:created xsi:type="dcterms:W3CDTF">2026-10-03T13:32:24Z</dcterms:created>
  <dcterms:modified xsi:type="dcterms:W3CDTF">2026-10-03T13:32:24Z</dcterms:modified>
</cp:coreProperties>
</file>